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1713476506" r:id="rId5"/>
    <p:sldId id="259" r:id="rId6"/>
    <p:sldId id="1713476513" r:id="rId7"/>
    <p:sldId id="1713476514" r:id="rId8"/>
    <p:sldId id="1713476492" r:id="rId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E128A0-8BE5-324A-9BAA-54A823570FEE}" v="3" dt="2023-01-26T21:55:25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47"/>
    <p:restoredTop sz="96327"/>
  </p:normalViewPr>
  <p:slideViewPr>
    <p:cSldViewPr snapToGrid="0" snapToObjects="1">
      <p:cViewPr varScale="1">
        <p:scale>
          <a:sx n="127" d="100"/>
          <a:sy n="127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68" d="100"/>
          <a:sy n="168" d="100"/>
        </p:scale>
        <p:origin x="664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6CC04A-F74E-0048-B3A4-D80A1A63F9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69D024-70B1-E84F-A3DC-B0373253BC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/>
            </a:lvl1pPr>
          </a:lstStyle>
          <a:p>
            <a:pPr>
              <a:defRPr/>
            </a:pPr>
            <a:fld id="{6782068E-4A6E-5A43-BB75-97BF344763B8}" type="datetimeFigureOut">
              <a:rPr lang="en-US"/>
              <a:pPr>
                <a:defRPr/>
              </a:pPr>
              <a:t>1/20/26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07687-9EFD-0541-9B95-61555C24052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C2DA7-3AC5-6D4D-A044-807DB68054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/>
            </a:lvl1pPr>
          </a:lstStyle>
          <a:p>
            <a:pPr>
              <a:defRPr/>
            </a:pPr>
            <a:fld id="{839CE498-8205-6041-A320-46A1AF9CEBA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7BD3AC-A308-E74E-9618-32ACC9D348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78F4D5-63BE-954E-B310-93387BC8AF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0F79030-ABB6-1B44-AB34-BCBC72BA5304}" type="datetimeFigureOut">
              <a:rPr lang="en-US"/>
              <a:pPr>
                <a:defRPr/>
              </a:pPr>
              <a:t>1/20/26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52123B-7FF3-4F47-B4BF-E3423F94A8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73C612B-D67D-484F-9608-DCF79EAA9E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735465-F5B3-7847-9310-D82796682E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CF610-309A-0846-A7A1-D5C18FCA7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100F4DD-433F-9D42-8752-618973F7408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8255659-7A13-255E-EBAB-9200F85890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460555"/>
            <a:ext cx="2149348" cy="41333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02CC5D1-AA08-2D7E-246A-8BFC68E2EC40}"/>
              </a:ext>
            </a:extLst>
          </p:cNvPr>
          <p:cNvGrpSpPr/>
          <p:nvPr userDrawn="1"/>
        </p:nvGrpSpPr>
        <p:grpSpPr>
          <a:xfrm>
            <a:off x="672442" y="6159327"/>
            <a:ext cx="2138856" cy="238118"/>
            <a:chOff x="672442" y="488835"/>
            <a:chExt cx="2138856" cy="238118"/>
          </a:xfrm>
        </p:grpSpPr>
        <p:pic>
          <p:nvPicPr>
            <p:cNvPr id="13" name="Graphic 8">
              <a:extLst>
                <a:ext uri="{FF2B5EF4-FFF2-40B4-BE49-F238E27FC236}">
                  <a16:creationId xmlns:a16="http://schemas.microsoft.com/office/drawing/2014/main" id="{F5853070-FEFD-8C58-8875-69BBFFF1B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2442" y="544749"/>
              <a:ext cx="275478" cy="165287"/>
            </a:xfrm>
            <a:prstGeom prst="rect">
              <a:avLst/>
            </a:prstGeom>
          </p:spPr>
        </p:pic>
        <p:pic>
          <p:nvPicPr>
            <p:cNvPr id="14" name="Graphic 9">
              <a:extLst>
                <a:ext uri="{FF2B5EF4-FFF2-40B4-BE49-F238E27FC236}">
                  <a16:creationId xmlns:a16="http://schemas.microsoft.com/office/drawing/2014/main" id="{9190AF22-89F3-AAB3-8C33-D0547ECEF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45299" y="524935"/>
              <a:ext cx="220383" cy="202018"/>
            </a:xfrm>
            <a:prstGeom prst="rect">
              <a:avLst/>
            </a:prstGeom>
          </p:spPr>
        </p:pic>
        <p:pic>
          <p:nvPicPr>
            <p:cNvPr id="15" name="Graphic 10">
              <a:extLst>
                <a:ext uri="{FF2B5EF4-FFF2-40B4-BE49-F238E27FC236}">
                  <a16:creationId xmlns:a16="http://schemas.microsoft.com/office/drawing/2014/main" id="{DF2AEE0D-9F44-4974-5BE0-D3A4587BF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9863" y="488835"/>
              <a:ext cx="189774" cy="220383"/>
            </a:xfrm>
            <a:prstGeom prst="rect">
              <a:avLst/>
            </a:prstGeom>
          </p:spPr>
        </p:pic>
        <p:pic>
          <p:nvPicPr>
            <p:cNvPr id="16" name="Graphic 12">
              <a:extLst>
                <a:ext uri="{FF2B5EF4-FFF2-40B4-BE49-F238E27FC236}">
                  <a16:creationId xmlns:a16="http://schemas.microsoft.com/office/drawing/2014/main" id="{B2FDFB5B-6F19-5850-E8A5-12CBB28E0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56357" y="512175"/>
              <a:ext cx="238748" cy="208139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899619B5-95D7-EE7F-4A5C-3D4F4A112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590915" y="496505"/>
              <a:ext cx="220383" cy="2179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2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D3C2-28CA-034B-84E3-B20D631ADBF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920628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rgbClr val="333333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B129FD-65BB-3C46-A192-5B4CE0EF1A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949386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9A5F4B4-789B-A8E3-82E9-41F6229161FB}"/>
              </a:ext>
            </a:extLst>
          </p:cNvPr>
          <p:cNvCxnSpPr>
            <a:cxnSpLocks/>
          </p:cNvCxnSpPr>
          <p:nvPr userDrawn="1"/>
        </p:nvCxnSpPr>
        <p:spPr>
          <a:xfrm>
            <a:off x="666750" y="5702494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C98216DA-77CE-B1B3-C16B-1D1C313A88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316" y="1160896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4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650FBC8-06C4-A01F-3BDE-0A28E80A40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49" y="738415"/>
            <a:ext cx="2339705" cy="44994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A415BAB-3117-FEE6-AE3E-8B32D1E9C6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5251" y="2376342"/>
            <a:ext cx="5199042" cy="2534975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presentation title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50C558D-B804-E04F-9F61-4CF1345CD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5251" y="5405100"/>
            <a:ext cx="6130192" cy="489513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subtext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CB03F0-A3C9-7EE9-562E-0CBA0909B663}"/>
              </a:ext>
            </a:extLst>
          </p:cNvPr>
          <p:cNvCxnSpPr>
            <a:cxnSpLocks/>
          </p:cNvCxnSpPr>
          <p:nvPr userDrawn="1"/>
        </p:nvCxnSpPr>
        <p:spPr>
          <a:xfrm>
            <a:off x="666750" y="5158208"/>
            <a:ext cx="476250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4543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5BC1842-1AA2-E248-8D74-DA9CC1F8097B}"/>
              </a:ext>
            </a:extLst>
          </p:cNvPr>
          <p:cNvCxnSpPr>
            <a:cxnSpLocks/>
          </p:cNvCxnSpPr>
          <p:nvPr/>
        </p:nvCxnSpPr>
        <p:spPr>
          <a:xfrm>
            <a:off x="666750" y="5038725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990726"/>
            <a:ext cx="6475625" cy="2833982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5278732"/>
            <a:ext cx="7647200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5DD5DF-B308-0D49-8B63-8E5315E291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744" y="582344"/>
            <a:ext cx="2149348" cy="41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44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3"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7D2B9C-90D4-F046-8A9A-9E286711CAF9}"/>
              </a:ext>
            </a:extLst>
          </p:cNvPr>
          <p:cNvCxnSpPr>
            <a:cxnSpLocks/>
          </p:cNvCxnSpPr>
          <p:nvPr/>
        </p:nvCxnSpPr>
        <p:spPr>
          <a:xfrm>
            <a:off x="666750" y="3633788"/>
            <a:ext cx="476250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1F229923-3A05-2A4F-8028-327C177F8637}"/>
              </a:ext>
            </a:extLst>
          </p:cNvPr>
          <p:cNvGrpSpPr/>
          <p:nvPr/>
        </p:nvGrpSpPr>
        <p:grpSpPr>
          <a:xfrm>
            <a:off x="672442" y="488835"/>
            <a:ext cx="2154734" cy="238118"/>
            <a:chOff x="1169102" y="2039490"/>
            <a:chExt cx="7663768" cy="846917"/>
          </a:xfrm>
          <a:solidFill>
            <a:schemeClr val="bg1"/>
          </a:solidFill>
        </p:grpSpPr>
        <p:pic>
          <p:nvPicPr>
            <p:cNvPr id="7" name="Graphic 8">
              <a:extLst>
                <a:ext uri="{FF2B5EF4-FFF2-40B4-BE49-F238E27FC236}">
                  <a16:creationId xmlns:a16="http://schemas.microsoft.com/office/drawing/2014/main" id="{2526D48F-0758-1E4C-B5A9-76D13E2D7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69102" y="2238361"/>
              <a:ext cx="979797" cy="587878"/>
            </a:xfrm>
            <a:prstGeom prst="rect">
              <a:avLst/>
            </a:prstGeom>
          </p:spPr>
        </p:pic>
        <p:pic>
          <p:nvPicPr>
            <p:cNvPr id="8" name="Graphic 9">
              <a:extLst>
                <a:ext uri="{FF2B5EF4-FFF2-40B4-BE49-F238E27FC236}">
                  <a16:creationId xmlns:a16="http://schemas.microsoft.com/office/drawing/2014/main" id="{678E6632-4639-6E40-BBA1-08E307FEF8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850920" y="2167889"/>
              <a:ext cx="783838" cy="718518"/>
            </a:xfrm>
            <a:prstGeom prst="rect">
              <a:avLst/>
            </a:prstGeom>
          </p:spPr>
        </p:pic>
        <p:pic>
          <p:nvPicPr>
            <p:cNvPr id="9" name="Graphic 10">
              <a:extLst>
                <a:ext uri="{FF2B5EF4-FFF2-40B4-BE49-F238E27FC236}">
                  <a16:creationId xmlns:a16="http://schemas.microsoft.com/office/drawing/2014/main" id="{C6281113-8E10-C848-B36A-373EC289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459431" y="2039490"/>
              <a:ext cx="674971" cy="783837"/>
            </a:xfrm>
            <a:prstGeom prst="rect">
              <a:avLst/>
            </a:prstGeom>
          </p:spPr>
        </p:pic>
        <p:pic>
          <p:nvPicPr>
            <p:cNvPr id="10" name="Graphic 11">
              <a:extLst>
                <a:ext uri="{FF2B5EF4-FFF2-40B4-BE49-F238E27FC236}">
                  <a16:creationId xmlns:a16="http://schemas.microsoft.com/office/drawing/2014/main" id="{6650CC91-E16B-FA41-97D4-9CA2384D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83713" y="2049644"/>
              <a:ext cx="849157" cy="827383"/>
            </a:xfrm>
            <a:prstGeom prst="rect">
              <a:avLst/>
            </a:prstGeom>
          </p:spPr>
        </p:pic>
        <p:pic>
          <p:nvPicPr>
            <p:cNvPr id="11" name="Graphic 12">
              <a:extLst>
                <a:ext uri="{FF2B5EF4-FFF2-40B4-BE49-F238E27FC236}">
                  <a16:creationId xmlns:a16="http://schemas.microsoft.com/office/drawing/2014/main" id="{EB3480C3-60CE-C946-9E89-EB2B7BE00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68604" y="2122503"/>
              <a:ext cx="849157" cy="74029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6491567" cy="1985255"/>
          </a:xfrm>
        </p:spPr>
        <p:txBody>
          <a:bodyPr anchor="b"/>
          <a:lstStyle>
            <a:lvl1pPr algn="l">
              <a:defRPr sz="6000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5251" y="3873444"/>
            <a:ext cx="5940863" cy="11601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30A06C4-47FF-1843-9215-2EB700F604E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7828" y="5922366"/>
            <a:ext cx="2029086" cy="2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63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87265BB8-3CC4-D24C-9A80-A0DCEA34D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A32166-CD09-6C47-9170-C0E551CAC873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2251A6A-9906-0846-A0AE-A84C2CB71F53}"/>
              </a:ext>
            </a:extLst>
          </p:cNvPr>
          <p:cNvSpPr/>
          <p:nvPr/>
        </p:nvSpPr>
        <p:spPr>
          <a:xfrm>
            <a:off x="781050" y="0"/>
            <a:ext cx="561975" cy="6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Graphic 9">
            <a:extLst>
              <a:ext uri="{FF2B5EF4-FFF2-40B4-BE49-F238E27FC236}">
                <a16:creationId xmlns:a16="http://schemas.microsoft.com/office/drawing/2014/main" id="{19CC3A0E-059E-2348-8EB8-801EB3FD366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5" y="1387475"/>
            <a:ext cx="11058525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5EB2BC9-D147-EE4E-A68D-31E4DEFB3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CF94E228-EDBA-BC4C-ABED-6F3C1A90109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CA86B90-A6A0-EE42-BC9A-4B49D8805F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9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F0B1224-DAF3-BF42-ADA2-342CA6A9BE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402E737C-7032-7B45-9176-1933D43D2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28DEB5-28F2-9E4C-A8D5-2AE84B94F30F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799" y="1482725"/>
            <a:ext cx="485775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725" y="1482725"/>
            <a:ext cx="5257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9BD169-C8AF-4D4E-9A58-1FB2D26B4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B2419100-B348-6C46-A05D-815961EF684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53A901C-CEC7-784A-B8DC-2B648C7F2D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DA66F2CF-2F42-5248-9C10-6405D62601C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D352EF0B-6323-DC4A-96F2-9F8D230E2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AD2150-CC17-0841-8FA6-F620F8E136E1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237975-F5FC-224D-93D4-1BD687D25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A1949909-090E-7F47-8180-F1C1AE5B461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3B43F62-D041-A34A-8BBA-6307FF5E16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09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-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">
            <a:extLst>
              <a:ext uri="{FF2B5EF4-FFF2-40B4-BE49-F238E27FC236}">
                <a16:creationId xmlns:a16="http://schemas.microsoft.com/office/drawing/2014/main" id="{C92F021B-3E8B-7C4F-B75C-5349E20231B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79400"/>
            <a:ext cx="400050" cy="865188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0" y="238125"/>
            <a:ext cx="11058525" cy="976313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78574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4508082-3C66-DE41-824B-8C7D959EE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18E294F-853D-3F43-97FD-73DCB4910F35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83A090-E8F6-644B-8CAD-AC1AE541E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69BFB6C7-4CFE-684D-9F0F-089FE7A8AE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8D010D6-C6F8-F141-A1B1-181F06E83D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717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40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4883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A1996DB0-64D5-18D6-B441-5F188F7761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4870"/>
            <a:ext cx="12192000" cy="47340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02930B-2940-CF45-BEB3-0F0DF29E955B}"/>
              </a:ext>
            </a:extLst>
          </p:cNvPr>
          <p:cNvSpPr/>
          <p:nvPr/>
        </p:nvSpPr>
        <p:spPr>
          <a:xfrm>
            <a:off x="896938" y="1662113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57720" y="2212262"/>
            <a:ext cx="5783040" cy="2495550"/>
          </a:xfrm>
        </p:spPr>
        <p:txBody>
          <a:bodyPr>
            <a:normAutofit/>
          </a:bodyPr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465905" y="2373817"/>
            <a:ext cx="2117974" cy="2115990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8543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935C4404-72A9-2745-A1B7-F0008387CD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7"/>
          <a:stretch/>
        </p:blipFill>
        <p:spPr bwMode="auto">
          <a:xfrm>
            <a:off x="0" y="0"/>
            <a:ext cx="12192000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C2679F5-36F9-0D45-BB97-9A214D022243}"/>
              </a:ext>
            </a:extLst>
          </p:cNvPr>
          <p:cNvSpPr/>
          <p:nvPr/>
        </p:nvSpPr>
        <p:spPr>
          <a:xfrm>
            <a:off x="5815013" y="1733550"/>
            <a:ext cx="561975" cy="66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3579DBC6-611E-384B-AA33-720791978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6457950"/>
            <a:ext cx="27273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00">
                <a:solidFill>
                  <a:srgbClr val="989998"/>
                </a:solidFill>
              </a:rPr>
              <a:t>© Presidio, Inc. All rights reserved. Proprietary and Confidential.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5B56B62-D687-0445-B458-08200F2CD8C2}"/>
              </a:ext>
            </a:extLst>
          </p:cNvPr>
          <p:cNvCxnSpPr>
            <a:cxnSpLocks/>
          </p:cNvCxnSpPr>
          <p:nvPr/>
        </p:nvCxnSpPr>
        <p:spPr>
          <a:xfrm>
            <a:off x="723900" y="6429375"/>
            <a:ext cx="9544050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685801" y="2047875"/>
            <a:ext cx="10763250" cy="2495550"/>
          </a:xfrm>
        </p:spPr>
        <p:txBody>
          <a:bodyPr anchor="t">
            <a:norm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0D69612-00A8-9A41-BE45-AD8D9AE40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337300"/>
            <a:ext cx="685800" cy="365125"/>
          </a:xfrm>
        </p:spPr>
        <p:txBody>
          <a:bodyPr/>
          <a:lstStyle>
            <a:lvl1pPr algn="r">
              <a:defRPr sz="1600" smtClean="0">
                <a:solidFill>
                  <a:srgbClr val="333333"/>
                </a:solidFill>
              </a:defRPr>
            </a:lvl1pPr>
          </a:lstStyle>
          <a:p>
            <a:pPr>
              <a:defRPr/>
            </a:pPr>
            <a:fld id="{142B1E9F-63E1-9644-8172-3F6AC64BB54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82B79F-8F4C-A04B-BE98-21CE97FA2E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4533" y="6360160"/>
            <a:ext cx="1397927" cy="26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77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3 City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DB45C6AA-A095-54C0-43B2-8582CE8DC2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76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7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57D823-8F3B-8244-A2A2-F82A32281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EA322BF-5589-0A40-981A-CA01D0A8B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2FFEC-18CB-E645-960D-8EDDDC5168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333333"/>
                </a:solidFill>
                <a:latin typeface="+mn-lt"/>
              </a:defRPr>
            </a:lvl1pPr>
          </a:lstStyle>
          <a:p>
            <a:pPr>
              <a:defRPr/>
            </a:pPr>
            <a:fld id="{A8C65966-93CC-F24E-90A5-02507490DB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16" r:id="rId2"/>
    <p:sldLayoutId id="2147483732" r:id="rId3"/>
    <p:sldLayoutId id="2147483719" r:id="rId4"/>
    <p:sldLayoutId id="2147483720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10" r:id="rId12"/>
    <p:sldLayoutId id="2147483728" r:id="rId13"/>
    <p:sldLayoutId id="2147483729" r:id="rId14"/>
    <p:sldLayoutId id="2147483718" r:id="rId15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333333"/>
          </a:solidFill>
          <a:latin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35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Clr>
          <a:srgbClr val="616062"/>
        </a:buClr>
        <a:buFont typeface="Arial" panose="020B0604020202020204" pitchFamily="34" charset="0"/>
        <a:buChar char="•"/>
        <a:defRPr sz="2400" kern="1200">
          <a:solidFill>
            <a:srgbClr val="616062"/>
          </a:solidFill>
          <a:latin typeface="+mn-lt"/>
          <a:ea typeface="+mn-ea"/>
          <a:cs typeface="+mn-cs"/>
        </a:defRPr>
      </a:lvl2pPr>
      <a:lvl3pPr marL="804863" indent="-1698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616062"/>
          </a:solidFill>
          <a:latin typeface="+mn-lt"/>
          <a:ea typeface="+mn-ea"/>
          <a:cs typeface="+mn-cs"/>
        </a:defRPr>
      </a:lvl3pPr>
      <a:lvl4pPr marL="1146175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4pPr>
      <a:lvl5pPr marL="1430338" indent="-284163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61606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CA68-A071-6ED9-DFFD-475E8F468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250" y="1434164"/>
            <a:ext cx="7814882" cy="1985255"/>
          </a:xfrm>
        </p:spPr>
        <p:txBody>
          <a:bodyPr/>
          <a:lstStyle/>
          <a:p>
            <a:r>
              <a:rPr lang="en-US" sz="5800" dirty="0">
                <a:latin typeface="Chalkboard" panose="03050602040202020205" pitchFamily="66" charset="77"/>
              </a:rPr>
              <a:t>Predictable Workflow VS Dynamic Agent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2DB46A-8891-1E83-7A87-C875CEA36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halkboard" panose="03050602040202020205" pitchFamily="66" charset="77"/>
              </a:rPr>
              <a:t>AI DevOps Agent</a:t>
            </a:r>
          </a:p>
        </p:txBody>
      </p:sp>
    </p:spTree>
    <p:extLst>
      <p:ext uri="{BB962C8B-B14F-4D97-AF65-F5344CB8AC3E}">
        <p14:creationId xmlns:p14="http://schemas.microsoft.com/office/powerpoint/2010/main" val="3641441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2">
            <a:extLst>
              <a:ext uri="{FF2B5EF4-FFF2-40B4-BE49-F238E27FC236}">
                <a16:creationId xmlns:a16="http://schemas.microsoft.com/office/drawing/2014/main" id="{C9F403D5-4939-4144-9525-16404EEB6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5575"/>
            <a:ext cx="11058525" cy="976313"/>
          </a:xfrm>
        </p:spPr>
        <p:txBody>
          <a:bodyPr/>
          <a:lstStyle/>
          <a:p>
            <a:r>
              <a:rPr lang="en-US" altLang="en-US" dirty="0">
                <a:latin typeface="Chalkboard" panose="03050602040202020205" pitchFamily="66" charset="77"/>
              </a:rPr>
              <a:t>Workflow Design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EE24823D-ADCE-364B-AD5C-F8F56A660C3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728D16-B141-8447-AA6F-D59CAF9D4FF7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33333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C889AF-E5FD-6A18-DE5A-908501E1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63" y="873277"/>
            <a:ext cx="7865347" cy="5529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72897-4648-CD54-221A-A20CF4479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2">
            <a:extLst>
              <a:ext uri="{FF2B5EF4-FFF2-40B4-BE49-F238E27FC236}">
                <a16:creationId xmlns:a16="http://schemas.microsoft.com/office/drawing/2014/main" id="{BB6F43F4-7052-0888-DE71-4498776DE7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halkboard" panose="03050602040202020205" pitchFamily="66" charset="77"/>
              </a:rPr>
              <a:t>Agent Design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7B189272-6F7F-84D9-AE5B-4A482199FDC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728D16-B141-8447-AA6F-D59CAF9D4FF7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srgbClr val="33333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4C652-37B6-D2D6-D72C-C06217C3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4438"/>
            <a:ext cx="12197109" cy="385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062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A4F9-F3E8-79E0-C70F-EEAC1B733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2">
            <a:extLst>
              <a:ext uri="{FF2B5EF4-FFF2-40B4-BE49-F238E27FC236}">
                <a16:creationId xmlns:a16="http://schemas.microsoft.com/office/drawing/2014/main" id="{B7EC9015-E9D4-9334-C39E-1F5A483DD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halkboard" panose="03050602040202020205" pitchFamily="66" charset="77"/>
              </a:rPr>
              <a:t>Workflow vs Agent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938F8B5E-F50C-6B4F-8F14-E53E32A076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E728D16-B141-8447-AA6F-D59CAF9D4FF7}" type="slidenum">
              <a:rPr lang="en-US" altLang="en-US">
                <a:solidFill>
                  <a:srgbClr val="33333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33333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ADDE09-B2B9-AFE2-440D-8A2D12D978E7}"/>
              </a:ext>
            </a:extLst>
          </p:cNvPr>
          <p:cNvSpPr txBox="1"/>
          <p:nvPr/>
        </p:nvSpPr>
        <p:spPr>
          <a:xfrm>
            <a:off x="685800" y="1452131"/>
            <a:ext cx="2077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Pros of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D2F0F-C00A-245B-F05E-505DF3A5572D}"/>
              </a:ext>
            </a:extLst>
          </p:cNvPr>
          <p:cNvSpPr txBox="1"/>
          <p:nvPr/>
        </p:nvSpPr>
        <p:spPr>
          <a:xfrm>
            <a:off x="685800" y="1866825"/>
            <a:ext cx="53432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Ordered execution, easy to debug in the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Faster execution with lower compute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Clear separation of CI/CD, security, testing,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Easier compliance and auditing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Low-cost 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11B6D-D3E5-5AF5-D21C-36887A68FEDE}"/>
              </a:ext>
            </a:extLst>
          </p:cNvPr>
          <p:cNvSpPr txBox="1"/>
          <p:nvPr/>
        </p:nvSpPr>
        <p:spPr>
          <a:xfrm>
            <a:off x="685800" y="3175680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Cons of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DC28C-D61C-41B8-17C3-884DD34A66B8}"/>
              </a:ext>
            </a:extLst>
          </p:cNvPr>
          <p:cNvSpPr txBox="1"/>
          <p:nvPr/>
        </p:nvSpPr>
        <p:spPr>
          <a:xfrm>
            <a:off x="685799" y="3618934"/>
            <a:ext cx="53432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Rigid flow (complex to implement for new scenarios)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Requires manual updates for new tools or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Cannot alter or optimize beyond predefined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Limited decision-making (mostly if/else rules)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3BD7C9-6E58-AAEC-F0EB-43049DFC89CC}"/>
              </a:ext>
            </a:extLst>
          </p:cNvPr>
          <p:cNvSpPr txBox="1"/>
          <p:nvPr/>
        </p:nvSpPr>
        <p:spPr>
          <a:xfrm>
            <a:off x="6525017" y="1452131"/>
            <a:ext cx="1680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Pros of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8CABA-5A89-81CD-C6E4-BE4C1EFAF8B0}"/>
              </a:ext>
            </a:extLst>
          </p:cNvPr>
          <p:cNvSpPr txBox="1"/>
          <p:nvPr/>
        </p:nvSpPr>
        <p:spPr>
          <a:xfrm>
            <a:off x="6525017" y="1821463"/>
            <a:ext cx="55250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Can make decisions dynamically (e.g., skip tests, retry deploy)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Adapts to new PR patterns, failures, or infra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Can reason across code review, security, infra, and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Reduces manual intervention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Better for complex, evolving systems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38B8CD-FA4E-724B-6D61-D564673DB534}"/>
              </a:ext>
            </a:extLst>
          </p:cNvPr>
          <p:cNvSpPr txBox="1"/>
          <p:nvPr/>
        </p:nvSpPr>
        <p:spPr>
          <a:xfrm>
            <a:off x="6525017" y="3175680"/>
            <a:ext cx="2107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Cons of Workflow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A81D9F-F5EE-0258-3DBA-8F5252DBBC86}"/>
              </a:ext>
            </a:extLst>
          </p:cNvPr>
          <p:cNvSpPr txBox="1"/>
          <p:nvPr/>
        </p:nvSpPr>
        <p:spPr>
          <a:xfrm>
            <a:off x="6525017" y="3598039"/>
            <a:ext cx="53432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Harder to debug and explain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Higher compute and operational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Requires strong guardrails to avoid unsafe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Risk of unintended changes (over-autonomy)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More complex security and access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90F601-2DEE-4A05-B0EF-6991CF99B48A}"/>
              </a:ext>
            </a:extLst>
          </p:cNvPr>
          <p:cNvSpPr txBox="1"/>
          <p:nvPr/>
        </p:nvSpPr>
        <p:spPr>
          <a:xfrm>
            <a:off x="685800" y="4753055"/>
            <a:ext cx="199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Prefer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2B0DFD-C352-B4F6-6FA6-B9A0BC2A34AA}"/>
              </a:ext>
            </a:extLst>
          </p:cNvPr>
          <p:cNvSpPr txBox="1"/>
          <p:nvPr/>
        </p:nvSpPr>
        <p:spPr>
          <a:xfrm>
            <a:off x="685798" y="5122387"/>
            <a:ext cx="53432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Stable and well-defined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Small to medium systems with predictable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For repeated &amp; deterministic executions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When cost optimization requires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7B8265-4E0A-459B-5527-BEA9CDF13121}"/>
              </a:ext>
            </a:extLst>
          </p:cNvPr>
          <p:cNvSpPr txBox="1"/>
          <p:nvPr/>
        </p:nvSpPr>
        <p:spPr>
          <a:xfrm>
            <a:off x="6525017" y="4820617"/>
            <a:ext cx="199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>
                <a:latin typeface="Chalkboard" panose="03050602040202020205" pitchFamily="66" charset="77"/>
              </a:rPr>
              <a:t>Prefer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8959D6-97E3-F894-55B0-7B3CB32BFE6F}"/>
              </a:ext>
            </a:extLst>
          </p:cNvPr>
          <p:cNvSpPr txBox="1"/>
          <p:nvPr/>
        </p:nvSpPr>
        <p:spPr>
          <a:xfrm>
            <a:off x="6525016" y="5177637"/>
            <a:ext cx="534321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For complex &amp; large codebase where cost doesn’t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Where system requires dynamic plans to be executed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Chalkboard" panose="03050602040202020205" pitchFamily="66" charset="77"/>
              </a:rPr>
              <a:t>Retrying automatically on failures</a:t>
            </a:r>
          </a:p>
        </p:txBody>
      </p:sp>
    </p:spTree>
    <p:extLst>
      <p:ext uri="{BB962C8B-B14F-4D97-AF65-F5344CB8AC3E}">
        <p14:creationId xmlns:p14="http://schemas.microsoft.com/office/powerpoint/2010/main" val="350900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Box 2">
            <a:extLst>
              <a:ext uri="{FF2B5EF4-FFF2-40B4-BE49-F238E27FC236}">
                <a16:creationId xmlns:a16="http://schemas.microsoft.com/office/drawing/2014/main" id="{4FB31601-E837-1A4F-BE68-C8A2DE970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3852863"/>
            <a:ext cx="53355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72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2770" name="Title 1">
            <a:extLst>
              <a:ext uri="{FF2B5EF4-FFF2-40B4-BE49-F238E27FC236}">
                <a16:creationId xmlns:a16="http://schemas.microsoft.com/office/drawing/2014/main" id="{2ED66691-E14B-E348-85ED-1F547B773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8" y="5457825"/>
            <a:ext cx="4478337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 b="1" dirty="0">
                <a:solidFill>
                  <a:srgbClr val="616062"/>
                </a:solidFill>
              </a:rPr>
              <a:t>Kaviraj 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 err="1">
                <a:solidFill>
                  <a:srgbClr val="616062"/>
                </a:solidFill>
              </a:rPr>
              <a:t>kaviraja@presidio.com</a:t>
            </a:r>
            <a:endParaRPr lang="en-US" altLang="en-US" sz="2000" dirty="0">
              <a:solidFill>
                <a:srgbClr val="616062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AB2E2D4-ADF8-E648-A698-C581A19799C9}"/>
              </a:ext>
            </a:extLst>
          </p:cNvPr>
          <p:cNvCxnSpPr>
            <a:cxnSpLocks/>
          </p:cNvCxnSpPr>
          <p:nvPr/>
        </p:nvCxnSpPr>
        <p:spPr>
          <a:xfrm>
            <a:off x="657225" y="5095875"/>
            <a:ext cx="352425" cy="0"/>
          </a:xfrm>
          <a:prstGeom prst="line">
            <a:avLst/>
          </a:prstGeom>
          <a:ln w="476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50EB2EDD-BFA2-D34C-B569-95ED49E692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10466" y="5581260"/>
            <a:ext cx="2123754" cy="40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008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esidio 2021">
      <a:dk1>
        <a:srgbClr val="000000"/>
      </a:dk1>
      <a:lt1>
        <a:srgbClr val="FFFFFF"/>
      </a:lt1>
      <a:dk2>
        <a:srgbClr val="007EB8"/>
      </a:dk2>
      <a:lt2>
        <a:srgbClr val="EEECE1"/>
      </a:lt2>
      <a:accent1>
        <a:srgbClr val="0080BA"/>
      </a:accent1>
      <a:accent2>
        <a:srgbClr val="FF9901"/>
      </a:accent2>
      <a:accent3>
        <a:srgbClr val="989998"/>
      </a:accent3>
      <a:accent4>
        <a:srgbClr val="71D24B"/>
      </a:accent4>
      <a:accent5>
        <a:srgbClr val="616062"/>
      </a:accent5>
      <a:accent6>
        <a:srgbClr val="00447A"/>
      </a:accent6>
      <a:hlink>
        <a:srgbClr val="05ABEF"/>
      </a:hlink>
      <a:folHlink>
        <a:srgbClr val="00447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accent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idio-PPT-Template-minimal" id="{4F874F5F-60BF-624D-9A61-D39B3C8E8D3D}" vid="{695293E7-B73E-0A4C-8997-951A9CEB81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79a3956-8c2c-4a5b-a210-a0122c30ac42">
      <Terms xmlns="http://schemas.microsoft.com/office/infopath/2007/PartnerControls"/>
    </lcf76f155ced4ddcb4097134ff3c332f>
    <TaxCatchAll xmlns="29efd1f7-c20c-4d57-99cd-30b3c2f4da1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A2A8643B32E4CADAB06797D645788" ma:contentTypeVersion="13" ma:contentTypeDescription="Create a new document." ma:contentTypeScope="" ma:versionID="74b28e3ed87fa84d05806d7426f363cd">
  <xsd:schema xmlns:xsd="http://www.w3.org/2001/XMLSchema" xmlns:xs="http://www.w3.org/2001/XMLSchema" xmlns:p="http://schemas.microsoft.com/office/2006/metadata/properties" xmlns:ns2="579a3956-8c2c-4a5b-a210-a0122c30ac42" xmlns:ns3="29efd1f7-c20c-4d57-99cd-30b3c2f4da1a" targetNamespace="http://schemas.microsoft.com/office/2006/metadata/properties" ma:root="true" ma:fieldsID="952dbb3fb0252b64fe4aef54f1d3ae7d" ns2:_="" ns3:_="">
    <xsd:import namespace="579a3956-8c2c-4a5b-a210-a0122c30ac42"/>
    <xsd:import namespace="29efd1f7-c20c-4d57-99cd-30b3c2f4da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a3956-8c2c-4a5b-a210-a0122c30ac4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efb7213-5598-45af-a1e8-bb0227de72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efd1f7-c20c-4d57-99cd-30b3c2f4da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75d67701-3a66-4b24-919f-e7b7dc99db07}" ma:internalName="TaxCatchAll" ma:showField="CatchAllData" ma:web="29efd1f7-c20c-4d57-99cd-30b3c2f4da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3DAFD3-93EE-AB4C-9E0D-36BA56A292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FA69F8-638F-704C-9002-F52DFA215A98}">
  <ds:schemaRefs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cf68a6e3-2c44-4ef1-bf08-e904f7a8452f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c852705-b33e-47e5-ae8a-a46732e2a719"/>
    <ds:schemaRef ds:uri="579a3956-8c2c-4a5b-a210-a0122c30ac42"/>
    <ds:schemaRef ds:uri="29efd1f7-c20c-4d57-99cd-30b3c2f4da1a"/>
  </ds:schemaRefs>
</ds:datastoreItem>
</file>

<file path=customXml/itemProps3.xml><?xml version="1.0" encoding="utf-8"?>
<ds:datastoreItem xmlns:ds="http://schemas.openxmlformats.org/officeDocument/2006/customXml" ds:itemID="{32E5FAFA-80E6-404F-A4AA-790A6A2960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9a3956-8c2c-4a5b-a210-a0122c30ac42"/>
    <ds:schemaRef ds:uri="29efd1f7-c20c-4d57-99cd-30b3c2f4da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232</Words>
  <Application>Microsoft Macintosh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Chalkboard</vt:lpstr>
      <vt:lpstr>Office Theme</vt:lpstr>
      <vt:lpstr>Predictable Workflow VS Dynamic Agent</vt:lpstr>
      <vt:lpstr>Workflow Design</vt:lpstr>
      <vt:lpstr>Agent Design</vt:lpstr>
      <vt:lpstr>Workflow vs Agent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A, Kaviraj</dc:creator>
  <cp:lastModifiedBy>A, Kaviraj</cp:lastModifiedBy>
  <cp:revision>2</cp:revision>
  <dcterms:created xsi:type="dcterms:W3CDTF">2026-01-20T05:45:54Z</dcterms:created>
  <dcterms:modified xsi:type="dcterms:W3CDTF">2026-01-20T10:06:52Z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0x010100D08A2A8643B32E4CADAB06797D645788</vt:lpwstr>
  </property>
  <property fmtid="{D5CDD505-2E9C-101B-9397-08002B2CF9AE}" pid="3" name="Order">
    <vt:r8>6206300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ediaServiceImageTags">
    <vt:lpwstr/>
  </property>
</Properties>
</file>